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BookBot 은 대화로 책을 추천하는 서버리스 챗봇입니다.</a:t>
            </a:r>
          </a:p>
          <a:p/>
          <a:p>
            <a:r>
              <a:t>핵심 한 줄은 "추천한 책이 실제로 존재하는지 외부에서 검증한다" 입니다.</a:t>
            </a:r>
          </a:p>
          <a:p>
            <a:r>
              <a:t>일반 LLM 챗봇은 모델이 기억하는 것을 말하는데, 그러면 없는 책을 그럴듯하게</a:t>
            </a:r>
          </a:p>
          <a:p>
            <a:r>
              <a:t>만들어 냅니다. 이 서비스는 그것을 구조로 막았고, 오늘 발표의 중심이 그 이야기입니다.</a:t>
            </a:r>
          </a:p>
          <a:p/>
          <a:p>
            <a:r>
              <a:t>숫자 세 개만 기억해 주세요. 도서 API 여섯 곳, LLM 이 부르는 도구 다섯 종,</a:t>
            </a:r>
          </a:p>
          <a:p>
            <a:r>
              <a:t>쓴 AWS 서비스 열 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전체 발표의 뼈대입니다.</a:t>
            </a:r>
          </a:p>
          <a:p/>
          <a:p>
            <a:r>
              <a:t>LLM 에게 책을 고르게 하면 존재하지 않는 책이 나옵니다. 제목이 그럴듯하고</a:t>
            </a:r>
          </a:p>
          <a:p>
            <a:r>
              <a:t>저자도 실제 인물이라 사용자는 검증할 방법이 없습니다.</a:t>
            </a:r>
          </a:p>
          <a:p/>
          <a:p>
            <a:r>
              <a:t>그래서 역할을 쪼갰습니다. 모델은 "왜 이 책이 당신에게 맞는지" 설명하는 말만</a:t>
            </a:r>
          </a:p>
          <a:p>
            <a:r>
              <a:t>씁니다. 제목·저자·표지·평점·ISBN·구매 링크는 전부 외부 도서 API 에서 옵니다.</a:t>
            </a:r>
          </a:p>
          <a:p>
            <a:r>
              <a:t>화면의 책 카드는 API 응답을 그대로 렌더링한 것입니다.</a:t>
            </a:r>
          </a:p>
          <a:p/>
          <a:p>
            <a:r>
              <a:t>프롬프트에 "없는 책을 추천하지 마세요" 라고 쓰는 건 부탁입니다. 지켜질 때도</a:t>
            </a:r>
          </a:p>
          <a:p>
            <a:r>
              <a:t>있고 안 지켜질 때도 있습니다. 검증 계층은 보장입니다. 이 차이가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왼쪽에서 오른쪽으로 읽으시면 됩니다.</a:t>
            </a:r>
          </a:p>
          <a:p/>
          <a:p>
            <a:r>
              <a:t>CloudFront 가 유일한 공개 진입점입니다. 경로로 갈립니다 — 화면 파일은 S3 로,</a:t>
            </a:r>
          </a:p>
          <a:p>
            <a:r>
              <a:t>/api/* 로 오는 요청만 API Gateway 를 거쳐 Lambda 로 갑니다. S3 버킷은 완전</a:t>
            </a:r>
          </a:p>
          <a:p>
            <a:r>
              <a:t>비공개이고 CloudFront 만 읽을 수 있습니다.</a:t>
            </a:r>
          </a:p>
          <a:p/>
          <a:p>
            <a:r>
              <a:t>Lambda 가 애플리케이션 전체입니다. Bedrock 으로 모델을 부르고, 도서 API 를</a:t>
            </a:r>
          </a:p>
          <a:p>
            <a:r>
              <a:t>병렬로 조회하고, DynamoDB 에 세션·캐시·기록을 넣고, Parameter Store 에서</a:t>
            </a:r>
          </a:p>
          <a:p>
            <a:r>
              <a:t>도서 API 키를 읽습니다. Bedrock 과 DynamoDB 는 IAM 역할로 부르기 때문에</a:t>
            </a:r>
          </a:p>
          <a:p>
            <a:r>
              <a:t>관리할 키가 아예 없습니다.</a:t>
            </a:r>
          </a:p>
          <a:p/>
          <a:p>
            <a:r>
              <a:t>아래 초록 상자가 오늘 강조할 부분입니다. 서점·도서관 여섯 곳을 동시에 부릅니다.</a:t>
            </a:r>
          </a:p>
          <a:p>
            <a:r>
              <a:t>한 곳이 죽어도 나머지로 답변합니다. 실제로 개발 중에 Gutendex 가 다운됐는데</a:t>
            </a:r>
          </a:p>
          <a:p>
            <a:r>
              <a:t>Open Library 폴백이 동작했습니다.</a:t>
            </a:r>
          </a:p>
          <a:p/>
          <a:p>
            <a:r>
              <a:t>오른쪽 아래 붉은 노트는 API Gateway 의 30초 제한이 도구 반복 횟수를 정했다는</a:t>
            </a:r>
          </a:p>
          <a:p>
            <a:r>
              <a:t>내용입니다. 질문이 나오면 여기를 짚어 주세요.</a:t>
            </a:r>
          </a:p>
          <a:p/>
          <a:p>
            <a:r>
              <a:t>서버가 없다는 말의 의미 — 항상 켜둔 컴퓨터가 없고 요청이 올 때만 실행됩니다.</a:t>
            </a:r>
          </a:p>
          <a:p>
            <a:r>
              <a:t>쓰지 않으면 요금이 0원입니다.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1단계 문지기. CloudFront 가 주입한 비밀 헤더가 없으면 403 입니다. Lambda 함수 URL</a:t>
            </a:r>
          </a:p>
          <a:p>
            <a:r>
              <a:t>을 직접 부르는 우회를 막습니다. 입력 길이는 2,000자로 자릅니다.</a:t>
            </a:r>
          </a:p>
          <a:p/>
          <a:p>
            <a:r>
              <a:t>2단계 정책 검사가 2단입니다. 먼저 정규식 — 미성년자 보호, 프롬프트 인젝션,</a:t>
            </a:r>
          </a:p>
          <a:p>
            <a:r>
              <a:t>개인정보. 여기서 걸리면 모델을 아예 부르지 않습니다. 실측 0.2초입니다.</a:t>
            </a:r>
          </a:p>
          <a:p>
            <a:r>
              <a:t>통과하면 모델로 의도를 분류합니다. 주제를 보는 게 아니라 "무엇을 해달라는</a:t>
            </a:r>
          </a:p>
          <a:p>
            <a:r>
              <a:t>요청인가" 만 봅니다. 그래서 무거운 주제의 책도 정상으로 추천합니다.</a:t>
            </a:r>
          </a:p>
          <a:p/>
          <a:p>
            <a:r>
              <a:t>3단계 도구 루프. 모델이 "이 도구를 이 인자로 불러줘" 를 구조화된 형태로</a:t>
            </a:r>
          </a:p>
          <a:p>
            <a:r>
              <a:t>돌려주고, 결과를 되돌려주면 이어서 생각합니다.</a:t>
            </a:r>
          </a:p>
          <a:p/>
          <a:p>
            <a:r>
              <a:t>4·5단계가 오늘 강조할 부분입니다. 다음 두 장에서 자세히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표가 "왜 여섯 곳이나 부르는가" 에 대한 답입니다.</a:t>
            </a:r>
          </a:p>
          <a:p/>
          <a:p>
            <a:r>
              <a:t>한국 책을 찾는데 Google Books 만 쓰면 절판된 국내서가 안 나옵니다. 반대로</a:t>
            </a:r>
          </a:p>
          <a:p>
            <a:r>
              <a:t>알라딘만 쓰면 영어권 책과 무료 고전을 못 찾습니다. 무드 태그, 예를 들어</a:t>
            </a:r>
          </a:p>
          <a:p>
            <a:r>
              <a:t>"잔잔한" 이나 "위로되는" 같은 것은 Hardcover 에만 있고, 무료 전문 다운로드는</a:t>
            </a:r>
          </a:p>
          <a:p>
            <a:r>
              <a:t>Gutendex 에만 있습니다.</a:t>
            </a:r>
          </a:p>
          <a:p/>
          <a:p>
            <a:r>
              <a:t>그래서 ISBN 으로 조인하고, 필드별로 어느 소스를 믿을지 따로 정했습니다.</a:t>
            </a:r>
          </a:p>
          <a:p>
            <a:r>
              <a:t>표지는 Google Books 를 먼저 보고, 국내서는 알라딘, 무드는 Hardcover 입니다.</a:t>
            </a:r>
          </a:p>
          <a:p/>
          <a:p>
            <a:r>
              <a:t>국내 소스 둘을 같이 쓰는 이유를 강조하고 싶습니다. 알라딘은 서점이라 팔리는</a:t>
            </a:r>
          </a:p>
          <a:p>
            <a:r>
              <a:t>책에 강하고, 국립중앙도서관은 납본 기관이라 국내 출간물이 거의 전부 있습니다.</a:t>
            </a:r>
          </a:p>
          <a:p>
            <a:r>
              <a:t>대신 도서관은 표지 이미지가 없어서, 국중에서 책을 찾고 표지는 알라딘에서 받는</a:t>
            </a:r>
          </a:p>
          <a:p>
            <a:r>
              <a:t>식으로 병합합니다.</a:t>
            </a:r>
          </a:p>
          <a:p/>
          <a:p>
            <a:r>
              <a:t>알라딘과 국립중앙도서관은 오류가 나도 HTTP 200 을 주는 특성이 있어서,</a:t>
            </a:r>
          </a:p>
          <a:p>
            <a:r>
              <a:t>응답 본문을 직접 검사하게 만들었습니다.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슬라이드입니다. 검증은 문자열 유사도 두 개입니다. 제목 0.7, 저자 0.5.</a:t>
            </a:r>
          </a:p>
          <a:p/>
          <a:p>
            <a:r>
              <a:t>숫자의 근거가 중요합니다. 제목 임계값을 0.62 로 뒀을 때 「종의 기원」을 찾는</a:t>
            </a:r>
          </a:p>
          <a:p>
            <a:r>
              <a:t>요청에 「종의 기원과 진화론」이라는 다른 책이 통과했습니다. 그래서 0.7 로</a:t>
            </a:r>
          </a:p>
          <a:p>
            <a:r>
              <a:t>올렸습니다. 같은 책은 비교값이 1.00 이 나오므로 정상 케이스는 안 깨집니다.</a:t>
            </a:r>
          </a:p>
          <a:p/>
          <a:p>
            <a:r>
              <a:t>저자를 따로 보는 이유는 「1984」 같은 경우입니다. 조지 오웰 원작 외에 해설서와</a:t>
            </a:r>
          </a:p>
          <a:p>
            <a:r>
              <a:t>만화판이 많습니다. 사용자가 저자를 지목했는데 다른 사람이면 다른 책입니다.</a:t>
            </a:r>
          </a:p>
          <a:p/>
          <a:p>
            <a:r>
              <a:t>다듬는 항목은 전부 실제 버그에서 나왔습니다. 「가와바타」가 조사 '가' 로 잘려서</a:t>
            </a:r>
          </a:p>
          <a:p>
            <a:r>
              <a:t>매칭이 실패했고, 권차 제거를 무제한으로 하니 「Fahrenheit 451」이</a:t>
            </a:r>
          </a:p>
          <a:p>
            <a:r>
              <a:t>「Fahrenheit」가 되는 문제가 있었습니다.</a:t>
            </a:r>
          </a:p>
          <a:p/>
          <a:p>
            <a:r>
              <a:t>정직하게 덧붙일 부분이 있습니다. 검증 계층은 정상 동작했는데, 모델이</a:t>
            </a:r>
          </a:p>
          <a:p>
            <a:r>
              <a:t>"확인되지 않았지만 알려진 책" 이라는 소제목을 스스로 만들어 검증에 실패한</a:t>
            </a:r>
          </a:p>
          <a:p>
            <a:r>
              <a:t>책을 사용자에게 보여준 사고가 있었습니다. 구조적 방어도 경계면에서는</a:t>
            </a:r>
          </a:p>
          <a:p>
            <a:r>
              <a:t>새어 나갈 수 있다는 뜻입니다. 검증 결과를 모델에게 알려준 것이 새는</a:t>
            </a:r>
          </a:p>
          <a:p>
            <a:r>
              <a:t>경로였습니다.</a:t>
            </a:r>
          </a:p>
          <a:p/>
          <a:p>
            <a:r>
              <a:t>마무리 한 줄로 정리하면 — 환각은 부탁해서 막는 게 아니라 구조로 막습니다.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A0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05156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8716A"/>
                </a:solidFill>
                <a:latin typeface="Apple SD Gothic Neo"/>
              </a:rPr>
              <a:t>Un Livre Pour Vous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08176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1C1917"/>
                </a:solidFill>
                <a:latin typeface="Apple SD Gothic Neo"/>
              </a:rPr>
              <a:t>BookBot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22576"/>
            <a:ext cx="5760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700" b="0">
                <a:solidFill>
                  <a:srgbClr val="1C1917"/>
                </a:solidFill>
                <a:latin typeface="Apple SD Gothic Neo"/>
              </a:rPr>
              <a:t>기분과 상황으로 책을 찾아주는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700" b="0">
                <a:solidFill>
                  <a:srgbClr val="1C1917"/>
                </a:solidFill>
                <a:latin typeface="Apple SD Gothic Neo"/>
              </a:rPr>
              <a:t>AWS 서버리스 챗봇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346704"/>
            <a:ext cx="3108960" cy="15875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547872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78716A"/>
                </a:solidFill>
                <a:latin typeface="Apple SD Gothic Neo"/>
              </a:rPr>
              <a:t>추천한 책이 실제로 존재하는지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78716A"/>
                </a:solidFill>
                <a:latin typeface="Apple SD Gothic Neo"/>
              </a:rPr>
              <a:t>외부 서점 · 도서관 API 로 검증합니다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553712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50" b="0">
                <a:solidFill>
                  <a:srgbClr val="78716A"/>
                </a:solidFill>
                <a:latin typeface="Apple SD Gothic Neo"/>
              </a:rPr>
              <a:t>도서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791456"/>
            <a:ext cx="1554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A03A2C"/>
                </a:solidFill>
                <a:latin typeface="Apple SD Gothic Neo"/>
              </a:rPr>
              <a:t>6곳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4553712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50" b="0">
                <a:solidFill>
                  <a:srgbClr val="78716A"/>
                </a:solidFill>
                <a:latin typeface="Apple SD Gothic Neo"/>
              </a:rPr>
              <a:t>LLM 도구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4791456"/>
            <a:ext cx="1554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A03A2C"/>
                </a:solidFill>
                <a:latin typeface="Apple SD Gothic Neo"/>
              </a:rPr>
              <a:t>5종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4553712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950" b="0">
                <a:solidFill>
                  <a:srgbClr val="78716A"/>
                </a:solidFill>
                <a:latin typeface="Apple SD Gothic Neo"/>
              </a:rPr>
              <a:t>AWS 서비스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4791456"/>
            <a:ext cx="1554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A03A2C"/>
                </a:solidFill>
                <a:latin typeface="Apple SD Gothic Neo"/>
              </a:rPr>
              <a:t>10종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5632704"/>
            <a:ext cx="4892040" cy="566928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70432" y="575157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1F5C8B"/>
                </a:solidFill>
                <a:latin typeface="Apple SD Gothic Neo"/>
              </a:rPr>
              <a:t>d2cmff9bta4e7l.cloudfront.net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78716A"/>
                </a:solidFill>
                <a:latin typeface="Apple SD Gothic Neo"/>
              </a:rPr>
              <a:t>공개 접속 · 로그인 없음 · 쓰지 않으면 요금 0원</a:t>
            </a:r>
          </a:p>
        </p:txBody>
      </p:sp>
      <p:pic>
        <p:nvPicPr>
          <p:cNvPr id="17" name="Picture 16" descr="site-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1" y="1481328"/>
            <a:ext cx="5285230" cy="3403064"/>
          </a:xfrm>
          <a:prstGeom prst="rect">
            <a:avLst/>
          </a:prstGeom>
          <a:ln w="9525">
            <a:solidFill>
              <a:srgbClr val="C9C0B2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355080" y="1133856"/>
            <a:ext cx="5285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78716A"/>
                </a:solidFill>
                <a:latin typeface="Apple SD Gothic Neo"/>
              </a:rPr>
              <a:t>서비스 첫 화면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122136"/>
            <a:ext cx="52852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1C1917"/>
                </a:solidFill>
                <a:latin typeface="Apple SD Gothic Neo"/>
              </a:rPr>
              <a:t>제목 없이 물어도 됩니다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78716A"/>
                </a:solidFill>
                <a:latin typeface="Apple SD Gothic Neo"/>
              </a:rPr>
              <a:t>기분 · 상황 · 좋아했던 작가를 말하면 서점과 도서관을 조회해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78716A"/>
                </a:solidFill>
                <a:latin typeface="Apple SD Gothic Neo"/>
              </a:rPr>
              <a:t>실제로 존재하는 책만 골라 돌려줍니다.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1908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50" b="0">
                <a:solidFill>
                  <a:srgbClr val="78716A"/>
                </a:solidFill>
                <a:latin typeface="Apple SD Gothic Neo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A03A2C"/>
                </a:solidFill>
                <a:latin typeface="Apple SD Gothic Ne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29184"/>
            <a:ext cx="8595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300" b="1">
                <a:solidFill>
                  <a:srgbClr val="1C1917"/>
                </a:solidFill>
                <a:latin typeface="Apple SD Gothic Neo"/>
              </a:rPr>
              <a:t>일반 챗봇과 무엇이 다른가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8638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78716A"/>
                </a:solidFill>
                <a:latin typeface="Apple SD Gothic Neo"/>
              </a:rPr>
              <a:t>모델이 아는 것을 말하지 않고, 외부에서 확인된 것만 말합니다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1064240" cy="9525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5349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0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78716A"/>
                </a:solidFill>
                <a:latin typeface="Apple SD Gothic Neo"/>
              </a:rPr>
              <a:t>일반 챗봇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39696"/>
            <a:ext cx="4937760" cy="548640"/>
          </a:xfrm>
          <a:prstGeom prst="rect">
            <a:avLst/>
          </a:prstGeom>
          <a:solidFill>
            <a:srgbClr val="FAF7F0"/>
          </a:solidFill>
          <a:ln w="9525">
            <a:solidFill>
              <a:srgbClr val="C9C0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05256" y="2240280"/>
            <a:ext cx="4681728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200">
                <a:solidFill>
                  <a:srgbClr val="78716A"/>
                </a:solidFill>
                <a:latin typeface="Menlo"/>
              </a:rPr>
              <a:t>입력 → 모델 → 출력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066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78716A"/>
                </a:solidFill>
                <a:latin typeface="Apple SD Gothic Neo"/>
              </a:rPr>
              <a:t>모델이 기억하는 것을 말합니다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1554480"/>
            <a:ext cx="534924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A0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01384" y="1737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A03A2C"/>
                </a:solidFill>
                <a:latin typeface="Apple SD Gothic Neo"/>
              </a:rPr>
              <a:t>BookBot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1384" y="2139696"/>
            <a:ext cx="4937760" cy="548640"/>
          </a:xfrm>
          <a:prstGeom prst="rect">
            <a:avLst/>
          </a:prstGeom>
          <a:solidFill>
            <a:srgbClr val="FAF7F0"/>
          </a:solidFill>
          <a:ln w="9525">
            <a:solidFill>
              <a:srgbClr val="C9C0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629400" y="2240280"/>
            <a:ext cx="4681728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100">
                <a:solidFill>
                  <a:srgbClr val="1C1917"/>
                </a:solidFill>
                <a:latin typeface="Menlo"/>
              </a:rPr>
              <a:t>입력 → 검문 → 모델 ↔ 외부 DB → 검증 → 출력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7066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1">
                <a:solidFill>
                  <a:srgbClr val="A03A2C"/>
                </a:solidFill>
                <a:latin typeface="Apple SD Gothic Neo"/>
              </a:rPr>
              <a:t>외부에서 확인된 것만 말합니다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346704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1">
                <a:solidFill>
                  <a:srgbClr val="1C1917"/>
                </a:solidFill>
                <a:latin typeface="Apple SD Gothic Neo"/>
              </a:rPr>
              <a:t>역할을 둘로 쪼갠 것이 설계의 전부입니다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767328"/>
            <a:ext cx="11064240" cy="420624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" y="3817620"/>
            <a:ext cx="210311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C1917"/>
                </a:solidFill>
                <a:latin typeface="Apple SD Gothic Neo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39" y="3817620"/>
            <a:ext cx="539495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C1917"/>
                </a:solidFill>
                <a:latin typeface="Apple SD Gothic Neo"/>
              </a:rPr>
              <a:t>무엇을 하나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8" y="3817620"/>
            <a:ext cx="329184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C1917"/>
                </a:solidFill>
                <a:latin typeface="Apple SD Gothic Neo"/>
              </a:rPr>
              <a:t>어디서 오나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38244"/>
            <a:ext cx="210311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C1917"/>
                </a:solidFill>
                <a:latin typeface="Apple SD Gothic Neo"/>
              </a:rPr>
              <a:t>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39" y="4238244"/>
            <a:ext cx="539495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C1917"/>
                </a:solidFill>
                <a:latin typeface="Apple SD Gothic Neo"/>
              </a:rPr>
              <a:t>왜 이 책인지 설명하는 말만 씁니다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8" y="4238244"/>
            <a:ext cx="329184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C1917"/>
                </a:solidFill>
                <a:latin typeface="Apple SD Gothic Neo"/>
              </a:rPr>
              <a:t>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187952"/>
            <a:ext cx="11064240" cy="6350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58868"/>
            <a:ext cx="210311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A03A2C"/>
                </a:solidFill>
                <a:latin typeface="Apple SD Gothic Neo"/>
              </a:rPr>
              <a:t>도서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39" y="4658868"/>
            <a:ext cx="539495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A03A2C"/>
                </a:solidFill>
                <a:latin typeface="Apple SD Gothic Neo"/>
              </a:rPr>
              <a:t>제목 · 저자 · 표지 · 평점 · ISBN · 구매 링크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8" y="4658868"/>
            <a:ext cx="329184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A03A2C"/>
                </a:solidFill>
                <a:latin typeface="Apple SD Gothic Neo"/>
              </a:rPr>
              <a:t>외부 서점 · 도서관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608576"/>
            <a:ext cx="11064240" cy="6350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5029200"/>
            <a:ext cx="11064240" cy="6350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175504"/>
            <a:ext cx="11064240" cy="1005840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68680" y="5358384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1C1917"/>
                </a:solidFill>
                <a:latin typeface="Apple SD Gothic Neo"/>
              </a:rPr>
              <a:t>화면 카드에 보이는 모든 값이 실제 API 응답입니다.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78716A"/>
                </a:solidFill>
                <a:latin typeface="Apple SD Gothic Neo"/>
              </a:rPr>
              <a:t>"없는 책을 추천하지 마세요" 는 프롬프트에 쓴 부탁이고, 검증 계층은 보장입니다.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41908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50" b="0">
                <a:solidFill>
                  <a:srgbClr val="78716A"/>
                </a:solidFill>
                <a:latin typeface="Apple SD Gothic Neo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A03A2C"/>
                </a:solidFill>
                <a:latin typeface="Apple SD Gothic Ne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56032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300" b="1">
                <a:solidFill>
                  <a:srgbClr val="1C1917"/>
                </a:solidFill>
                <a:latin typeface="Apple SD Gothic Neo"/>
              </a:rPr>
              <a:t>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728" y="329184"/>
            <a:ext cx="6217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8716A"/>
                </a:solidFill>
                <a:latin typeface="Apple SD Gothic Neo"/>
              </a:rPr>
              <a:t>서버를 직접 관리하지 않는 서버리스 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786384"/>
            <a:ext cx="11064240" cy="9525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ws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16" y="932688"/>
            <a:ext cx="7968342" cy="5577840"/>
          </a:xfrm>
          <a:prstGeom prst="rect">
            <a:avLst/>
          </a:prstGeom>
          <a:ln w="9525">
            <a:solidFill>
              <a:srgbClr val="C9C0B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796528" y="98755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1C1917"/>
                </a:solidFill>
                <a:latin typeface="Apple SD Gothic Neo"/>
              </a:rPr>
              <a:t>이 그림에서 볼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1335024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A03A2C"/>
                </a:solidFill>
                <a:latin typeface="Apple SD Gothic Neo"/>
              </a:rPr>
              <a:t>공개 진입점은 하나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1554480"/>
            <a:ext cx="2834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050" b="0">
                <a:solidFill>
                  <a:srgbClr val="78716A"/>
                </a:solidFill>
                <a:latin typeface="Apple SD Gothic Neo"/>
              </a:rPr>
              <a:t>CloudFront 만 외부에 열려 있고 S3 버킷은 완전히 비공개입니다.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2203704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A03A2C"/>
                </a:solidFill>
                <a:latin typeface="Apple SD Gothic Neo"/>
              </a:rPr>
              <a:t>경로로 갈립니다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2423160"/>
            <a:ext cx="2834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050" b="0">
                <a:solidFill>
                  <a:srgbClr val="78716A"/>
                </a:solidFill>
                <a:latin typeface="Apple SD Gothic Neo"/>
              </a:rPr>
              <a:t>화면 파일은 S3 로, /api/* 만 Lambda 로 갑니다.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3072384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A03A2C"/>
                </a:solidFill>
                <a:latin typeface="Apple SD Gothic Neo"/>
              </a:rPr>
              <a:t>Lambda 가 전부입니다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3291840"/>
            <a:ext cx="2834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050" b="0">
                <a:solidFill>
                  <a:srgbClr val="78716A"/>
                </a:solidFill>
                <a:latin typeface="Apple SD Gothic Neo"/>
              </a:rPr>
              <a:t>모델 호출 · 도서 API 조회 · 저장을 한 함수가 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3941064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A03A2C"/>
                </a:solidFill>
                <a:latin typeface="Apple SD Gothic Neo"/>
              </a:rPr>
              <a:t>아래 초록 상자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4160520"/>
            <a:ext cx="2834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050" b="0">
                <a:solidFill>
                  <a:srgbClr val="78716A"/>
                </a:solidFill>
                <a:latin typeface="Apple SD Gothic Neo"/>
              </a:rPr>
              <a:t>서점 · 도서관 6곳. 한 곳이 죽어도 나머지로 답변합니다.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4809744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>
                <a:solidFill>
                  <a:srgbClr val="A03A2C"/>
                </a:solidFill>
                <a:latin typeface="Apple SD Gothic Neo"/>
              </a:rPr>
              <a:t>오른쪽 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5029200"/>
            <a:ext cx="2834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050" b="0">
                <a:solidFill>
                  <a:srgbClr val="78716A"/>
                </a:solidFill>
                <a:latin typeface="Apple SD Gothic Neo"/>
              </a:rPr>
              <a:t>Bedrock · DynamoDB 는 API 키가 없습니다. IAM 역할로 부릅니다.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96528" y="5760720"/>
            <a:ext cx="2834640" cy="731520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979408" y="5888736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1">
                <a:solidFill>
                  <a:srgbClr val="1C1917"/>
                </a:solidFill>
                <a:latin typeface="Apple SD Gothic Neo"/>
              </a:rPr>
              <a:t>VPC 가 없습니다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78716A"/>
                </a:solidFill>
                <a:latin typeface="Apple SD Gothic Neo"/>
              </a:rPr>
              <a:t>전부 관리형 서비스라 서브넷 · 보안그룹 · NAT 가 없습니다.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1908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50" b="0">
                <a:solidFill>
                  <a:srgbClr val="78716A"/>
                </a:solidFill>
                <a:latin typeface="Apple SD Gothic Neo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A03A2C"/>
                </a:solidFill>
                <a:latin typeface="Apple SD Gothic Ne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29184"/>
            <a:ext cx="8595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300" b="1">
                <a:solidFill>
                  <a:srgbClr val="1C1917"/>
                </a:solidFill>
                <a:latin typeface="Apple SD Gothic Neo"/>
              </a:rPr>
              <a:t>요청 한 건이 지나는 여섯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8638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78716A"/>
                </a:solidFill>
                <a:latin typeface="Apple SD Gothic Neo"/>
              </a:rPr>
              <a:t>"조용히 위로가 되는 한국 소설 추천해주세요" 를 예로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1064240" cy="9525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402336" cy="402336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1C1917"/>
                </a:solidFill>
                <a:latin typeface="Apple SD Gothic Ne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158191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1">
                <a:solidFill>
                  <a:srgbClr val="1C1917"/>
                </a:solidFill>
                <a:latin typeface="Apple SD Gothic Neo"/>
              </a:rPr>
              <a:t>문지기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3824" y="1627632"/>
            <a:ext cx="8467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8716A"/>
                </a:solidFill>
                <a:latin typeface="Apple SD Gothic Neo"/>
              </a:rPr>
              <a:t>오리진 비밀 헤더 확인 · 입력 길이 제한 · 세션 검증 · IP 레이트리밋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121408"/>
            <a:ext cx="11064240" cy="9525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231136"/>
            <a:ext cx="402336" cy="402336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6928" y="2322576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1C1917"/>
                </a:solidFill>
                <a:latin typeface="Apple SD Gothic Ne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225856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1">
                <a:solidFill>
                  <a:srgbClr val="1C1917"/>
                </a:solidFill>
                <a:latin typeface="Apple SD Gothic Neo"/>
              </a:rPr>
              <a:t>정책 검사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3824" y="2304288"/>
            <a:ext cx="8467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8716A"/>
                </a:solidFill>
                <a:latin typeface="Apple SD Gothic Neo"/>
              </a:rPr>
              <a:t>정규식으로 먼저 걸러내고, 통과하면 모델이 의도를 분류합니다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798064"/>
            <a:ext cx="11064240" cy="9525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907792"/>
            <a:ext cx="402336" cy="402336"/>
          </a:xfrm>
          <a:prstGeom prst="rect">
            <a:avLst/>
          </a:prstGeom>
          <a:solidFill>
            <a:srgbClr val="1F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6928" y="2999232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2935224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1">
                <a:solidFill>
                  <a:srgbClr val="1C1917"/>
                </a:solidFill>
                <a:latin typeface="Apple SD Gothic Neo"/>
              </a:rPr>
              <a:t>도구 루프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63824" y="2980944"/>
            <a:ext cx="8467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8716A"/>
                </a:solidFill>
                <a:latin typeface="Apple SD Gothic Neo"/>
              </a:rPr>
              <a:t>모델이 도구를 부르고 → 결과를 받아 → 이어서 생각합니다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474720"/>
            <a:ext cx="11064240" cy="9525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584448"/>
            <a:ext cx="402336" cy="402336"/>
          </a:xfrm>
          <a:prstGeom prst="rect">
            <a:avLst/>
          </a:prstGeom>
          <a:solidFill>
            <a:srgbClr val="A0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66928" y="367588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Apple SD Gothic Ne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" y="3611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1">
                <a:solidFill>
                  <a:srgbClr val="1C1917"/>
                </a:solidFill>
                <a:latin typeface="Apple SD Gothic Neo"/>
              </a:rPr>
              <a:t>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3824" y="3657600"/>
            <a:ext cx="8467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8716A"/>
                </a:solidFill>
                <a:latin typeface="Apple SD Gothic Neo"/>
              </a:rPr>
              <a:t>서점 · 도서관을 조회해 중복을 지우고 제목 · 저자를 대조합니다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151376"/>
            <a:ext cx="11064240" cy="9525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261104"/>
            <a:ext cx="402336" cy="402336"/>
          </a:xfrm>
          <a:prstGeom prst="rect">
            <a:avLst/>
          </a:prstGeom>
          <a:solidFill>
            <a:srgbClr val="A0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66928" y="435254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Apple SD Gothic Ne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" y="4288536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1">
                <a:solidFill>
                  <a:srgbClr val="1C1917"/>
                </a:solidFill>
                <a:latin typeface="Apple SD Gothic Neo"/>
              </a:rPr>
              <a:t>카드 선별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63824" y="4334256"/>
            <a:ext cx="8467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8716A"/>
                </a:solidFill>
                <a:latin typeface="Apple SD Gothic Neo"/>
              </a:rPr>
              <a:t>답변이 언급한 책만 카드로. 답변에 있는데 카드가 없으면 다시 조회합니다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828032"/>
            <a:ext cx="11064240" cy="9525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937760"/>
            <a:ext cx="402336" cy="402336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66928" y="502920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1C1917"/>
                </a:solidFill>
                <a:latin typeface="Apple SD Gothic Neo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" y="496519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1">
                <a:solidFill>
                  <a:srgbClr val="1C1917"/>
                </a:solidFill>
                <a:latin typeface="Apple SD Gothic Neo"/>
              </a:rPr>
              <a:t>출력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63824" y="5010912"/>
            <a:ext cx="84673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8716A"/>
                </a:solidFill>
                <a:latin typeface="Apple SD Gothic Neo"/>
              </a:rPr>
              <a:t>화면으로 전송하고 검토용 기록을 남깁니다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5687568"/>
            <a:ext cx="5394960" cy="713232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04672" y="583387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1">
                <a:solidFill>
                  <a:srgbClr val="1C1917"/>
                </a:solidFill>
                <a:latin typeface="Apple SD Gothic Neo"/>
              </a:rPr>
              <a:t>2단계에서 걸리면 0.2초에 끝납니다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0">
                <a:solidFill>
                  <a:srgbClr val="78716A"/>
                </a:solidFill>
                <a:latin typeface="Apple SD Gothic Neo"/>
              </a:rPr>
              <a:t>정규식이라 네트워크도 모델 호출도 없습니다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45352" y="5687568"/>
            <a:ext cx="5394960" cy="713232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483096" y="583387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1">
                <a:solidFill>
                  <a:srgbClr val="A03A2C"/>
                </a:solidFill>
                <a:latin typeface="Apple SD Gothic Neo"/>
              </a:rPr>
              <a:t>4 · 5단계가 이 서비스의 핵심입니다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0">
                <a:solidFill>
                  <a:srgbClr val="78716A"/>
                </a:solidFill>
                <a:latin typeface="Apple SD Gothic Neo"/>
              </a:rPr>
              <a:t>모델이 고른 책을 외부 데이터로 걸러내는 구간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41908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50" b="0">
                <a:solidFill>
                  <a:srgbClr val="78716A"/>
                </a:solidFill>
                <a:latin typeface="Apple SD Gothic Neo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A03A2C"/>
                </a:solidFill>
                <a:latin typeface="Apple SD Gothic Ne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29184"/>
            <a:ext cx="8595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300" b="1">
                <a:solidFill>
                  <a:srgbClr val="1C1917"/>
                </a:solidFill>
                <a:latin typeface="Apple SD Gothic Neo"/>
              </a:rPr>
              <a:t>외부 서점 · 도서관을 여섯 곳이나 쓰는 이유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8638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78716A"/>
                </a:solidFill>
                <a:latin typeface="Apple SD Gothic Neo"/>
              </a:rPr>
              <a:t>각 API 는 가진 것과 없는 것이 정확히 갈립니다 — 한 곳으로는 안 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1064240" cy="9525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11064240" cy="315468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531620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C1917"/>
                </a:solidFill>
                <a:latin typeface="Apple SD Gothic Neo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5631" y="1531620"/>
            <a:ext cx="1324363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C1917"/>
                </a:solidFill>
                <a:latin typeface="Apple SD Gothic Neo"/>
              </a:rPr>
              <a:t>알라딘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1434" y="1531620"/>
            <a:ext cx="1743860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C1917"/>
                </a:solidFill>
                <a:latin typeface="Apple SD Gothic Neo"/>
              </a:rPr>
              <a:t>국립중앙도서관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16734" y="1531620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C1917"/>
                </a:solidFill>
                <a:latin typeface="Apple SD Gothic Neo"/>
              </a:rPr>
              <a:t>Google Books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2285" y="1531620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C1917"/>
                </a:solidFill>
                <a:latin typeface="Apple SD Gothic Neo"/>
              </a:rPr>
              <a:t>Open Library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7836" y="1531620"/>
            <a:ext cx="1324363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C1917"/>
                </a:solidFill>
                <a:latin typeface="Apple SD Gothic Neo"/>
              </a:rPr>
              <a:t>Hardcover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3639" y="1531620"/>
            <a:ext cx="142924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C1917"/>
                </a:solidFill>
                <a:latin typeface="Apple SD Gothic Neo"/>
              </a:rPr>
              <a:t>Gutendex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847088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C1917"/>
                </a:solidFill>
                <a:latin typeface="Apple SD Gothic Neo"/>
              </a:rPr>
              <a:t>성격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5631" y="1847088"/>
            <a:ext cx="1324363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국내 서점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1434" y="1847088"/>
            <a:ext cx="1743860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국내 납본기관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6734" y="1847088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종합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2285" y="1847088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종합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7836" y="1847088"/>
            <a:ext cx="1324363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커뮤니티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3639" y="1847088"/>
            <a:ext cx="142924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무료 전자책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1796796"/>
            <a:ext cx="11064240" cy="6350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162556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C1917"/>
                </a:solidFill>
                <a:latin typeface="Apple SD Gothic Neo"/>
              </a:rPr>
              <a:t>한국 도서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5631" y="2162556"/>
            <a:ext cx="1324363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03A2C"/>
                </a:solidFill>
                <a:latin typeface="Apple SD Gothic Neo"/>
              </a:rPr>
              <a:t>★★★★★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1434" y="2162556"/>
            <a:ext cx="1743860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03A2C"/>
                </a:solidFill>
                <a:latin typeface="Apple SD Gothic Neo"/>
              </a:rPr>
              <a:t>★★★★★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16734" y="2162556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★★★★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2285" y="2162556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★★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7836" y="2162556"/>
            <a:ext cx="1324363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3639" y="2162556"/>
            <a:ext cx="142924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없음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2112264"/>
            <a:ext cx="11064240" cy="6350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2478024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C1917"/>
                </a:solidFill>
                <a:latin typeface="Apple SD Gothic Neo"/>
              </a:rPr>
              <a:t>커버리지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65631" y="2478024"/>
            <a:ext cx="1324363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★★★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81434" y="2478024"/>
            <a:ext cx="1743860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국내 전량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16734" y="2478024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03A2C"/>
                </a:solidFill>
                <a:latin typeface="Apple SD Gothic Neo"/>
              </a:rPr>
              <a:t>★★★★★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2285" y="2478024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★★★★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67836" y="2478024"/>
            <a:ext cx="1324363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★★★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83639" y="2478024"/>
            <a:ext cx="142924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★★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2427732"/>
            <a:ext cx="11064240" cy="6350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2793492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C1917"/>
                </a:solidFill>
                <a:latin typeface="Apple SD Gothic Neo"/>
              </a:rPr>
              <a:t>표지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65631" y="2793492"/>
            <a:ext cx="1324363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A03A2C"/>
                </a:solidFill>
                <a:latin typeface="Apple SD Gothic Neo"/>
              </a:rPr>
              <a:t>★★★★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81434" y="2793492"/>
            <a:ext cx="1743860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8716A"/>
                </a:solidFill>
                <a:latin typeface="Apple SD Gothic Neo"/>
              </a:rPr>
              <a:t>없음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16734" y="2793492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03A2C"/>
                </a:solidFill>
                <a:latin typeface="Apple SD Gothic Neo"/>
              </a:rPr>
              <a:t>★★★★★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42285" y="2793492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★★★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67836" y="2793492"/>
            <a:ext cx="1324363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★★★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83639" y="2793492"/>
            <a:ext cx="142924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2743200"/>
            <a:ext cx="11064240" cy="6350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3108960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C1917"/>
                </a:solidFill>
                <a:latin typeface="Apple SD Gothic Neo"/>
              </a:rPr>
              <a:t>평점 · 무드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65631" y="3108960"/>
            <a:ext cx="1324363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평점만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81434" y="3108960"/>
            <a:ext cx="1743860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없음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16734" y="3108960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평점만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42285" y="3108960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없음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67836" y="3108960"/>
            <a:ext cx="1324363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03A2C"/>
                </a:solidFill>
                <a:latin typeface="Apple SD Gothic Neo"/>
              </a:rPr>
              <a:t>★★★★★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83639" y="3108960"/>
            <a:ext cx="142924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없음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3058668"/>
            <a:ext cx="11064240" cy="6350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3424428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C1917"/>
                </a:solidFill>
                <a:latin typeface="Apple SD Gothic Neo"/>
              </a:rPr>
              <a:t>무료 전문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65631" y="3424428"/>
            <a:ext cx="1324363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없음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81434" y="3424428"/>
            <a:ext cx="1743860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없음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16734" y="3424428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42285" y="3424428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★★★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67836" y="3424428"/>
            <a:ext cx="1324363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없음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83639" y="3424428"/>
            <a:ext cx="142924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03A2C"/>
                </a:solidFill>
                <a:latin typeface="Apple SD Gothic Neo"/>
              </a:rPr>
              <a:t>★★★★★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3374136"/>
            <a:ext cx="11064240" cy="6350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3739896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C1917"/>
                </a:solidFill>
                <a:latin typeface="Apple SD Gothic Neo"/>
              </a:rPr>
              <a:t>국내 구매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65631" y="3739896"/>
            <a:ext cx="1324363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A03A2C"/>
                </a:solidFill>
                <a:latin typeface="Apple SD Gothic Neo"/>
              </a:rPr>
              <a:t>★★★★★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81434" y="3739896"/>
            <a:ext cx="1743860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없음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16734" y="3739896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없음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42285" y="3739896"/>
            <a:ext cx="153411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없음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67836" y="3739896"/>
            <a:ext cx="1324363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없음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83639" y="3739896"/>
            <a:ext cx="1429241" cy="315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C1917"/>
                </a:solidFill>
                <a:latin typeface="Apple SD Gothic Neo"/>
              </a:rPr>
              <a:t>없음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3689604"/>
            <a:ext cx="11064240" cy="6350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66928" y="4005072"/>
            <a:ext cx="11064240" cy="6350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6928" y="4206240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1C1917"/>
                </a:solidFill>
                <a:latin typeface="Apple SD Gothic Neo"/>
              </a:rPr>
              <a:t>언어로 갈라 부릅니다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" y="4590288"/>
            <a:ext cx="5349240" cy="1024128"/>
          </a:xfrm>
          <a:prstGeom prst="rect">
            <a:avLst/>
          </a:prstGeom>
          <a:solidFill>
            <a:srgbClr val="F4F1E8"/>
          </a:solidFill>
          <a:ln w="9525">
            <a:solidFill>
              <a:srgbClr val="C9C0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694944" y="4690872"/>
            <a:ext cx="5093208" cy="8412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</a:pPr>
            <a:r>
              <a:rPr sz="950">
                <a:solidFill>
                  <a:srgbClr val="1C1917"/>
                </a:solidFill>
                <a:latin typeface="Menlo"/>
              </a:rPr>
              <a:t>한국어 맥락 → 알라딘 · 국립중앙도서관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950">
                <a:solidFill>
                  <a:srgbClr val="1C1917"/>
                </a:solidFill>
                <a:latin typeface="Menlo"/>
              </a:rPr>
              <a:t>영어권      → Google Books · Open Library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950">
                <a:solidFill>
                  <a:srgbClr val="1C1917"/>
                </a:solidFill>
                <a:latin typeface="Menlo"/>
              </a:rPr>
              <a:t>              Hardcover · Gutendex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950">
                <a:solidFill>
                  <a:srgbClr val="1C1917"/>
                </a:solidFill>
                <a:latin typeface="Menlo"/>
              </a:rPr>
              <a:t>결과가 없으면 → Google Books 한국어 검색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91072" y="4206240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1C1917"/>
                </a:solidFill>
                <a:latin typeface="Apple SD Gothic Neo"/>
              </a:rPr>
              <a:t>합치는 순서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91072" y="4590288"/>
            <a:ext cx="5349240" cy="1024128"/>
          </a:xfrm>
          <a:prstGeom prst="rect">
            <a:avLst/>
          </a:prstGeom>
          <a:solidFill>
            <a:srgbClr val="F4F1E8"/>
          </a:solidFill>
          <a:ln w="9525">
            <a:solidFill>
              <a:srgbClr val="C9C0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419088" y="4690872"/>
            <a:ext cx="5093208" cy="8412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</a:pPr>
            <a:r>
              <a:rPr sz="950">
                <a:solidFill>
                  <a:srgbClr val="1C1917"/>
                </a:solidFill>
                <a:latin typeface="Menlo"/>
              </a:rPr>
              <a:t>1  ISBN 으로 같은 책을 하나로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950">
                <a:solidFill>
                  <a:srgbClr val="1C1917"/>
                </a:solidFill>
                <a:latin typeface="Menlo"/>
              </a:rPr>
              <a:t>2  제목 · 저자가 비슷한 것도 하나로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950">
                <a:solidFill>
                  <a:srgbClr val="1C1917"/>
                </a:solidFill>
                <a:latin typeface="Menlo"/>
              </a:rPr>
              <a:t>3  필드별로 믿을 소스를 따로 정해 병합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950">
                <a:solidFill>
                  <a:srgbClr val="1C1917"/>
                </a:solidFill>
                <a:latin typeface="Menlo"/>
              </a:rPr>
              <a:t>4  평점 · 연도 · 주제 적합성으로 정렬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6928" y="5614416"/>
            <a:ext cx="11064240" cy="786384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868680" y="5742432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1">
                <a:solidFill>
                  <a:srgbClr val="1C1917"/>
                </a:solidFill>
                <a:latin typeface="Apple SD Gothic Neo"/>
              </a:rPr>
              <a:t>국내 소스 둘은 겹치지 않고 서로를 메웁니다.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>
                <a:solidFill>
                  <a:srgbClr val="78716A"/>
                </a:solidFill>
                <a:latin typeface="Apple SD Gothic Neo"/>
              </a:rPr>
              <a:t>알라딘은 서점이라 신간 · 표지 · 구매 링크가 강하고 절판된 책이 약합니다. 국립중앙도서관은 납본 기관이라 국내 출간물이 사실상 전부 있지만 표지가 없습니다.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475720" y="641908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50" b="0">
                <a:solidFill>
                  <a:srgbClr val="78716A"/>
                </a:solidFill>
                <a:latin typeface="Apple SD Gothic Neo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A03A2C"/>
                </a:solidFill>
                <a:latin typeface="Apple SD Gothic Ne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29184"/>
            <a:ext cx="8595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300" b="1">
                <a:solidFill>
                  <a:srgbClr val="1C1917"/>
                </a:solidFill>
                <a:latin typeface="Apple SD Gothic Neo"/>
              </a:rPr>
              <a:t>검증 — 모델이 떠올린 책을 외부 데이터로 대조합니다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8638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78716A"/>
                </a:solidFill>
                <a:latin typeface="Apple SD Gothic Neo"/>
              </a:rPr>
              <a:t>임계값은 추측이 아니라 실제로 틀린 사례에서 나왔습니다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1064240" cy="9525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17904"/>
            <a:ext cx="11064240" cy="950976"/>
          </a:xfrm>
          <a:prstGeom prst="rect">
            <a:avLst/>
          </a:prstGeom>
          <a:solidFill>
            <a:srgbClr val="F4F1E8"/>
          </a:solidFill>
          <a:ln w="9525">
            <a:solidFill>
              <a:srgbClr val="C9C0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94944" y="1618488"/>
            <a:ext cx="10808208" cy="7680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100">
                <a:solidFill>
                  <a:srgbClr val="1C1917"/>
                </a:solidFill>
                <a:latin typeface="Menlo"/>
              </a:rPr>
              <a:t>모델이 "《종의 기원》 정유정" 을 떠올림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100">
                <a:solidFill>
                  <a:srgbClr val="1C1917"/>
                </a:solidFill>
                <a:latin typeface="Menlo"/>
              </a:rPr>
              <a:t>   → 서점 · 도서관 조회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100">
                <a:solidFill>
                  <a:srgbClr val="1C1917"/>
                </a:solidFill>
                <a:latin typeface="Menlo"/>
              </a:rPr>
              <a:t>   → 제목 유사도 0.7 이상  AND  저자 유사도 0.5 이상  →  통과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100">
                <a:solidFill>
                  <a:srgbClr val="1C1917"/>
                </a:solidFill>
                <a:latin typeface="Menlo"/>
              </a:rPr>
              <a:t>   → 통과하지 못한 책은 답변에서 언급 금지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688336"/>
            <a:ext cx="11064240" cy="585216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2738628"/>
            <a:ext cx="182880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C1917"/>
                </a:solidFill>
                <a:latin typeface="Apple SD Gothic Neo"/>
              </a:rPr>
              <a:t>임계값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738628"/>
            <a:ext cx="905256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C1917"/>
                </a:solidFill>
                <a:latin typeface="Apple SD Gothic Neo"/>
              </a:rPr>
              <a:t>왜 이 값인가 — 실제로 있었던 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23844"/>
            <a:ext cx="182880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A03A2C"/>
                </a:solidFill>
                <a:latin typeface="Apple SD Gothic Neo"/>
              </a:rPr>
              <a:t>제목 0.7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323844"/>
            <a:ext cx="905256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917"/>
                </a:solidFill>
                <a:latin typeface="Apple SD Gothic Neo"/>
              </a:rPr>
              <a:t>0.62 였을 때 「종의 기원」 요청에 「종의 기원과 진화론」 이라는 다른 책이 통과했습니다. 같은 책은 비교값이 1.00 이라 기준을 올려도 정상 케이스는 깨지지 않습니다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273552"/>
            <a:ext cx="11064240" cy="6350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09060"/>
            <a:ext cx="182880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A03A2C"/>
                </a:solidFill>
                <a:latin typeface="Apple SD Gothic Neo"/>
              </a:rPr>
              <a:t>저자 0.5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909060"/>
            <a:ext cx="905256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C1917"/>
                </a:solidFill>
                <a:latin typeface="Apple SD Gothic Neo"/>
              </a:rPr>
              <a:t>「1984」 는 조지 오웰 원작 외에 해설서와 만화판이 많습니다. 저자를 지목했는데 다른 사람이면 다른 책입니다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858768"/>
            <a:ext cx="11064240" cy="6350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443984"/>
            <a:ext cx="11064240" cy="6350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517136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1C1917"/>
                </a:solidFill>
                <a:latin typeface="Apple SD Gothic Neo"/>
              </a:rPr>
              <a:t>대조 전에 다듬습니다 — 전부 실제 버그에서 나왔습니다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882896"/>
            <a:ext cx="5349240" cy="859536"/>
          </a:xfrm>
          <a:prstGeom prst="rect">
            <a:avLst/>
          </a:prstGeom>
          <a:solidFill>
            <a:srgbClr val="F4F1E8"/>
          </a:solidFill>
          <a:ln w="9525">
            <a:solidFill>
              <a:srgbClr val="C9C0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94944" y="4983480"/>
            <a:ext cx="5093208" cy="6766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</a:pPr>
            <a:r>
              <a:rPr sz="950">
                <a:solidFill>
                  <a:srgbClr val="1C1917"/>
                </a:solidFill>
                <a:latin typeface="Menlo"/>
              </a:rPr>
              <a:t>장식 문자 제거    《》 「」 ** " 등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950">
                <a:solidFill>
                  <a:srgbClr val="1C1917"/>
                </a:solidFill>
                <a:latin typeface="Menlo"/>
              </a:rPr>
              <a:t>조사 처리         「가와바타」가 조사 '가' 로 잘림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950">
                <a:solidFill>
                  <a:srgbClr val="1C1917"/>
                </a:solidFill>
                <a:latin typeface="Menlo"/>
              </a:rPr>
              <a:t>권차 제거         「혼불 1」 → 「혼불」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4517136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1C1917"/>
                </a:solidFill>
                <a:latin typeface="Apple SD Gothic Neo"/>
              </a:rPr>
              <a:t>검증이 잡아낸 실제 사례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1072" y="4882896"/>
            <a:ext cx="5349240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9C0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0" y="5010912"/>
            <a:ext cx="49377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78716A"/>
                </a:solidFill>
                <a:latin typeface="Apple SD Gothic Neo"/>
              </a:rPr>
              <a:t>궁중요리 질문에서 답변은 세 권을 추천했는데 카드는 한 장이었습니다.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1">
                <a:solidFill>
                  <a:srgbClr val="1C1917"/>
                </a:solidFill>
                <a:latin typeface="Apple SD Gothic Neo"/>
              </a:rPr>
              <a:t>→ 답변에서 제목을 뽑아 역으로 다시 조회해 카드를 채우게 고쳤습니다.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870448"/>
            <a:ext cx="11064240" cy="548640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68680" y="598932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1C1917"/>
                </a:solidFill>
                <a:latin typeface="Apple SD Gothic Neo"/>
              </a:rPr>
              <a:t>환각은 프롬프트로 부탁해서 막는 것이 아니라, 외부 데이터로 대조해서 구조로 막습니다.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41908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50" b="0">
                <a:solidFill>
                  <a:srgbClr val="78716A"/>
                </a:solidFill>
                <a:latin typeface="Apple SD Gothic Neo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